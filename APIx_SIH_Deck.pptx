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B1F3B"/>
                </a:solidFill>
                <a:latin typeface="Calibri"/>
              </a:rPr>
              <a:t>Index Weights by Route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weight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DEL–BOM</c:v>
                  </c:pt>
                  <c:pt idx="1">
                    <c:v>DEL–BLR</c:v>
                  </c:pt>
                  <c:pt idx="2">
                    <c:v>BOM–BLR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43.8</c:v>
                </c:pt>
                <c:pt idx="1">
                  <c:v>32.2</c:v>
                </c:pt>
                <c:pt idx="2">
                  <c:v>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Airfare Price Index — infrastructure-grade fare tracking for India's domestic air routes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544" y="4032504"/>
            <a:ext cx="502920" cy="-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3712464"/>
            <a:ext cx="50292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9776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65760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9776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0749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5184648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7552" y="545896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20440" y="50749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5184648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85032" y="545896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50749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5184648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82512" y="545896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Theme ]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15400" y="50749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5184648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79992" y="545896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Team Name 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defensible, transparent airfare index — built for policy, not for deal-hunting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933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 real-time, methodology-transparent airfare index. OTA fare trackers are commercial, opaque, and unfit for use by statistical or monetary authorities like the NSO or RBI as an inflation input.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APIx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defensible index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DGCA-traffic-weighted, chain-linked, the same logic behind CPI &amp; the GDP deflator.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real sources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(Air India + IndiGo direct) plus a clearly-labelled synthetic gap-filler — never blended silently.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traceable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number on every page maps to a real database-backed API call.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60920" y="182880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011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 · 2 BOOKING WINDOWS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72600" y="2514600"/>
            <a:ext cx="-1234440" cy="1645920"/>
          </a:xfrm>
          <a:prstGeom prst="line">
            <a:avLst/>
          </a:prstGeom>
          <a:noFill/>
          <a:ln w="25400">
            <a:solidFill>
              <a:srgbClr val="9FB3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2514600"/>
            <a:ext cx="1234440" cy="1645920"/>
          </a:xfrm>
          <a:prstGeom prst="line">
            <a:avLst/>
          </a:prstGeom>
          <a:noFill/>
          <a:ln w="25400">
            <a:solidFill>
              <a:srgbClr val="9FB3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4160520"/>
            <a:ext cx="2468880" cy="0"/>
          </a:xfrm>
          <a:prstGeom prst="line">
            <a:avLst/>
          </a:prstGeom>
          <a:noFill/>
          <a:ln w="25400">
            <a:solidFill>
              <a:srgbClr val="9FB3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2221992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45552" y="3867912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14432" y="3867912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62772" y="320954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462772" y="3209544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97212" y="320954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9697212" y="3209544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79992" y="403250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9079992" y="4032504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55321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= DGCA Annual Traffic Survey share, FY22-23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scrape to screen — a five-stage, fully traceable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221992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scrapers — Air India + IndiGo direct (robots.txt cleared)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 rot="5400000">
            <a:off x="2743200" y="2409444"/>
            <a:ext cx="146304" cy="164592"/>
          </a:xfrm>
          <a:prstGeom prst="triangle">
            <a:avLst/>
          </a:prstGeom>
          <a:solidFill>
            <a:srgbClr val="9FB3D9"/>
          </a:solidFill>
          <a:ln/>
        </p:spPr>
      </p:sp>
      <p:sp>
        <p:nvSpPr>
          <p:cNvPr id="9" name="Shape 7"/>
          <p:cNvSpPr/>
          <p:nvPr/>
        </p:nvSpPr>
        <p:spPr>
          <a:xfrm>
            <a:off x="2898648" y="16916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2221992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6032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Pandas/NumPy — dedup, IQR outlier flags, fare-component reconciliation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 rot="5400000">
            <a:off x="5001768" y="2409444"/>
            <a:ext cx="146304" cy="164592"/>
          </a:xfrm>
          <a:prstGeom prst="triangle">
            <a:avLst/>
          </a:prstGeom>
          <a:solidFill>
            <a:srgbClr val="9FB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216" y="16916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321808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21808" y="2221992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21808" y="256032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DGCA-weighted, chain-linked geometric mean — one defensible formula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 rot="5400000">
            <a:off x="7260336" y="2409444"/>
            <a:ext cx="146304" cy="164592"/>
          </a:xfrm>
          <a:prstGeom prst="triangle">
            <a:avLst/>
          </a:prstGeom>
          <a:solidFill>
            <a:srgbClr val="9FB3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415784" y="16916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580376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80376" y="2221992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0376" y="256032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— fare_quotes, cross_source_check, ingestion_runs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 rot="5400000">
            <a:off x="9518904" y="2409444"/>
            <a:ext cx="146304" cy="164592"/>
          </a:xfrm>
          <a:prstGeom prst="triangle">
            <a:avLst/>
          </a:prstGeom>
          <a:solidFill>
            <a:srgbClr val="9FB3D9"/>
          </a:solidFill>
          <a:ln/>
        </p:spPr>
      </p:sp>
      <p:sp>
        <p:nvSpPr>
          <p:cNvPr id="24" name="Shape 22"/>
          <p:cNvSpPr/>
          <p:nvPr/>
        </p:nvSpPr>
        <p:spPr>
          <a:xfrm>
            <a:off x="9674352" y="16916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838944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38944" y="2221992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38944" y="256032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(10 endpoints) → React 19 + TS dashboard, 8 pages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617220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I(t) = I(t-1) · exp( Σ  w(route) · ln( fare(route,t) / fare(route,t-1) ) )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14400" y="459943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Traffic-weighted like CPI food weighting · chain-linked like India's GDP deflator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7086600" y="3611880"/>
          <a:ext cx="44348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judge scrutiny — every risk named and closed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95144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airline-direct sources (Air India + IndiGo), pluggable connector interface for more.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19476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5683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911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dominating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95144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Gap-filler only — always tagged `synthetic_estimate`, never blended silently with real quotes.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85032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9410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04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index weights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288536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sourced directly from DGCA's Annual Traffic Survey, shown on-screen with citation.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685032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39410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904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legality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4288536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reviewed for all 5 candidate sites; every OTA (Ixigo, EaseMyTrip, Cleartrip) disallows bots — excluded. Airline-direct sites, confirmed permissive, used instead.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724144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2414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stack: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(free Postgres) · Render/Railway (backend) · Vercel/Netlify (frontend) — no infra cost to run or judge.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Policy-grade infrastructure, not another fare-deal app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5623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the CPI travel-cost basket with a transparent, auditable airfare series.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85623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2221992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signal for travel-cost inflation feeding monetary policy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021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/ Policy makers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867912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cross-check against carrier-reported fares, route by route.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35021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9672" y="3867912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documented API and methodology — reproducible, not a black box.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tracked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83864" y="512064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483864" y="571500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512064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327648" y="571500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512064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171432" y="571500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official data and established index methodology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0253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precedent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96112" y="2514600"/>
            <a:ext cx="309981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Manual on Consumer Price Indices, Ch. 15 — chain-linking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GDP Deflator methodology — chain-linking precedent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Annual Traffic Survey, FY22-23 — route traffic weights (dgca.gov.in)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71416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727448" y="200253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compliance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7448" y="2514600"/>
            <a:ext cx="309981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airindia.com/robots.txt &amp; goindigo.in/robots.txt — reviewed 2026-08-24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robots.txt review — Ixigo, EaseMyTrip, Cleartrip (all disallow bots; excluded)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Polite-scraping protocol — rate limits, capped volume, non-impersonating UA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02752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558784" y="200253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58784" y="2514600"/>
            <a:ext cx="309981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Supabase Postgres — backend &amp; storage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+ Recharts — frontend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Pandas/NumPy — ingestion &amp;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SIH 26056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2026-08-25T06:24:53Z</dcterms:created>
  <dcterms:modified xsi:type="dcterms:W3CDTF">2026-08-25T06:24:53Z</dcterms:modified>
</cp:coreProperties>
</file>